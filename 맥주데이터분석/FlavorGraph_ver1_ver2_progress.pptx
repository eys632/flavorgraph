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AUG gain (GBDT)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Bootstrapping</c:v>
                </c:pt>
                <c:pt idx="1">
                  <c:v>KDE</c:v>
                </c:pt>
                <c:pt idx="2">
                  <c:v>GaussianCopula</c:v>
                </c:pt>
                <c:pt idx="3">
                  <c:v>VAE</c:v>
                </c:pt>
                <c:pt idx="4">
                  <c:v>CTGAN</c:v>
                </c:pt>
                <c:pt idx="5">
                  <c:v>TabDDPM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-0.101152172088623</c:v>
                </c:pt>
                <c:pt idx="1">
                  <c:v>-0.13201967835426329</c:v>
                </c:pt>
                <c:pt idx="2">
                  <c:v>-2.4938308000564499E-2</c:v>
                </c:pt>
                <c:pt idx="3">
                  <c:v>-6.3278508186340003E-3</c:v>
                </c:pt>
                <c:pt idx="4">
                  <c:v>-5.87879681587219E-2</c:v>
                </c:pt>
                <c:pt idx="5">
                  <c:v>-0.1014306282997131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19-4C89-8D84-58905E1E8A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E5E7EB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AUG gain (MLP)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Bootstrapping</c:v>
                </c:pt>
                <c:pt idx="1">
                  <c:v>KDE</c:v>
                </c:pt>
                <c:pt idx="2">
                  <c:v>GaussianCopula</c:v>
                </c:pt>
                <c:pt idx="3">
                  <c:v>VAE</c:v>
                </c:pt>
                <c:pt idx="4">
                  <c:v>CTGAN</c:v>
                </c:pt>
                <c:pt idx="5">
                  <c:v>TabDDPM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-0.16851896643638609</c:v>
                </c:pt>
                <c:pt idx="1">
                  <c:v>-0.10193137288093559</c:v>
                </c:pt>
                <c:pt idx="2">
                  <c:v>4.1056650876998897E-2</c:v>
                </c:pt>
                <c:pt idx="3">
                  <c:v>-1.92353248596191E-2</c:v>
                </c:pt>
                <c:pt idx="4">
                  <c:v>-6.3879327774047798E-2</c:v>
                </c:pt>
                <c:pt idx="5">
                  <c:v>-0.30896941900253289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77-4B73-BF8B-FD069F33F5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E5E7EB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KS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Bootstrapping</c:v>
                </c:pt>
                <c:pt idx="1">
                  <c:v>KDE</c:v>
                </c:pt>
                <c:pt idx="2">
                  <c:v>GaussianCopula</c:v>
                </c:pt>
                <c:pt idx="3">
                  <c:v>VAE</c:v>
                </c:pt>
                <c:pt idx="4">
                  <c:v>CTGAN</c:v>
                </c:pt>
                <c:pt idx="5">
                  <c:v>TabDDPM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5.0954454454454401E-2</c:v>
                </c:pt>
                <c:pt idx="1">
                  <c:v>0.15713378378378379</c:v>
                </c:pt>
                <c:pt idx="2">
                  <c:v>5.3341241241241198E-2</c:v>
                </c:pt>
                <c:pt idx="3">
                  <c:v>0.56956731731731736</c:v>
                </c:pt>
                <c:pt idx="4">
                  <c:v>0.35550225225225218</c:v>
                </c:pt>
                <c:pt idx="5">
                  <c:v>0.3558546546546546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3A-4F6D-88FD-6F8AD5A751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E5E7EB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PCD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Bootstrapping</c:v>
                </c:pt>
                <c:pt idx="1">
                  <c:v>KDE</c:v>
                </c:pt>
                <c:pt idx="2">
                  <c:v>GaussianCopula</c:v>
                </c:pt>
                <c:pt idx="3">
                  <c:v>VAE</c:v>
                </c:pt>
                <c:pt idx="4">
                  <c:v>CTGAN</c:v>
                </c:pt>
                <c:pt idx="5">
                  <c:v>TabDDPM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5.1056149800618487</c:v>
                </c:pt>
                <c:pt idx="1">
                  <c:v>14.039859771728516</c:v>
                </c:pt>
                <c:pt idx="2">
                  <c:v>5.6105505625406904</c:v>
                </c:pt>
                <c:pt idx="3">
                  <c:v>76.229817708333329</c:v>
                </c:pt>
                <c:pt idx="4">
                  <c:v>14.638273557027182</c:v>
                </c:pt>
                <c:pt idx="5">
                  <c:v>12.214667956034342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9C-4CC1-A423-70D880C0B9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E5E7EB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mem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Bootstrapping</c:v>
                </c:pt>
                <c:pt idx="1">
                  <c:v>KDE</c:v>
                </c:pt>
                <c:pt idx="2">
                  <c:v>GaussianCopula</c:v>
                </c:pt>
                <c:pt idx="3">
                  <c:v>VAE</c:v>
                </c:pt>
                <c:pt idx="4">
                  <c:v>CTGAN</c:v>
                </c:pt>
                <c:pt idx="5">
                  <c:v>TabDDPM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0</c:v>
                </c:pt>
                <c:pt idx="2">
                  <c:v>5.0000000000000001E-3</c:v>
                </c:pt>
                <c:pt idx="3">
                  <c:v>0.99416666666666664</c:v>
                </c:pt>
                <c:pt idx="4">
                  <c:v>0</c:v>
                </c:pt>
                <c:pt idx="5">
                  <c:v>8.3333333333329999E-4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A1-4D94-B1DF-95A1D401C7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E5E7EB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AUG gain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Bootstrapping</c:v>
                </c:pt>
                <c:pt idx="1">
                  <c:v>KDE</c:v>
                </c:pt>
                <c:pt idx="2">
                  <c:v>GaussianCopula</c:v>
                </c:pt>
                <c:pt idx="3">
                  <c:v>VAE</c:v>
                </c:pt>
                <c:pt idx="4">
                  <c:v>CTGAN</c:v>
                </c:pt>
                <c:pt idx="5">
                  <c:v>TabDDPM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-4.2314810355504301E-2</c:v>
                </c:pt>
                <c:pt idx="1">
                  <c:v>-4.3697245518366498E-2</c:v>
                </c:pt>
                <c:pt idx="2">
                  <c:v>8.4168275197346008E-3</c:v>
                </c:pt>
                <c:pt idx="3">
                  <c:v>1.6934327284494999E-2</c:v>
                </c:pt>
                <c:pt idx="4">
                  <c:v>-2.8938478628794301E-2</c:v>
                </c:pt>
                <c:pt idx="5">
                  <c:v>-1.0445990959803199E-2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A1-4632-9559-300C7168A5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E5E7EB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rank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Bootstrapping</c:v>
                </c:pt>
                <c:pt idx="1">
                  <c:v>KDE</c:v>
                </c:pt>
                <c:pt idx="2">
                  <c:v>GaussianCopula</c:v>
                </c:pt>
                <c:pt idx="3">
                  <c:v>VAE</c:v>
                </c:pt>
                <c:pt idx="4">
                  <c:v>CTGAN</c:v>
                </c:pt>
                <c:pt idx="5">
                  <c:v>TabDDPM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3.86</c:v>
                </c:pt>
                <c:pt idx="1">
                  <c:v>4.3</c:v>
                </c:pt>
                <c:pt idx="2">
                  <c:v>2.9</c:v>
                </c:pt>
                <c:pt idx="3">
                  <c:v>2.56</c:v>
                </c:pt>
                <c:pt idx="4">
                  <c:v>3.82</c:v>
                </c:pt>
                <c:pt idx="5">
                  <c:v>3.56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DF-43B8-AF83-F17B792AA0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E5E7EB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8412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목적: 지금까지의 의사결정 흐름과 결과를 교수님/박사님에게 공유하고, 다음 실험(단일 Y 가설 검증)으로 넘어가기 위한 피드백을 받기.
[Sources]
- Nature Communications 논문(Beer flavor ML): https://www.nature.com/articles/s41467-024-46346-0
- Zenodo 데이터/코드(재현 패키지): https://zenodo.org/records/10653704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논문 초록/데이터 규모 및 “Gradient Boosting best-performing algorithm” 언급: https://www.nature.com/articles/s41467-024-46346-0 (Abstract)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데이터 규모(250 beers, 22 styles, 200+ chemical properties, trained panel) 및 ML 모델 비교 맥락: https://www.nature.com/articles/s41467-024-46346-0
- 데이터/코드(재현 패키지): https://zenodo.org/records/10653704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ver1에서 진행한 원본 데이터 형태 진단(EDA)의 핵심 요약.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PCA는 “선형 관점” 유효 차원. 매니폴드(비선형 내재 구조) 차원과 동일하다고 단정하지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논문에서도 250 beers / 22 styles를 명시하고, 상관/관능 관계를 style 맥락에서 해석: https://www.nature.com/articles/s41467-024-46346-0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“실험 설계가 타당한가?”라는 질문에 답하기 위한 공통 틀 요약.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ver1은 빠른 탐색 버전. “10× 증강이 항상 좋은가?”에 대한 의문이 생겨 ver2(2×, repeats=3)로 이동.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ver2는 repeats=3의 요약 통계(평균±표준편차)를 기반으로 판단. 이 슬라이드는 “Fidelity”만 분리해서 보여줌.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Utility는 “예측 성능이 실제로 좋아지는가?”에 대한 답. 다만 작은 N에서 우연/과적합을 막기 위해 repeats=3 요약을 사용.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“결과를 어떻게 해석할지”에 대한 초안. 이후 단일 Y 분석과 그룹 제거 실험으로 더 엄밀히 검증 예정.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슬라이드의 질문 리스트는 사용자가 요청한 “애매한 부분은 제작 전에 확인”을 반영한 체크리스트 성격.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05" y="0"/>
            <a:ext cx="12191695" cy="36109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86105" y="2605144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FlavorGraph 진행 보고 (ver1 → ver2)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537" y="3199504"/>
            <a:ext cx="107652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맥주 화학 데이터(X)로 전문가 관능평가(Y) 예측 + 데이터 증강 실험 요약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92480" y="4161416"/>
            <a:ext cx="498348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21080" y="432600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발표에서 중점으로 볼 포인트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1080" y="4664336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문제 정의와 가정이 합당한가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실험 설계(지표/분할/반복)가 타당한가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결과 해석이 과장/누수 없이 설명되는가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16040" y="4161416"/>
            <a:ext cx="498348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644640" y="432600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ver1 ↔ ver2 차이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44640" y="4664336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ver1: 6가지 합성 방법 + 대규모(10×) 증강 기반 비교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ver2: 2× 증강 + repeats=3 + X–Y 구조/과적합 진단 강화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48640"/>
            <a:ext cx="12191695" cy="45720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7620" tIns="7620" rIns="7620" bIns="762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연구 질문(Research Question)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0" y="1005840"/>
            <a:ext cx="12191695" cy="201168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7874" tIns="7874" rIns="7874" bIns="787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“작은 N, 큰 D” 환경에서 데이터 증강이 어려운가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2116568"/>
            <a:ext cx="5394960" cy="310896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77240" y="217143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문제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482328"/>
            <a:ext cx="52578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3520" indent="-22352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고차원(≈231) 대비 샘플 수(≈250)가 작아서, 단순한 증강은 분포/의존성(화학 경로)을 깨기 쉬움</a:t>
            </a:r>
            <a:endParaRPr lang="en-US" sz="1600" dirty="0"/>
          </a:p>
          <a:p>
            <a:pPr marL="223520" indent="-22352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목표: “모집단의 확률적 성질”을 유지하며 합성 데이터를 생성하고, 예측 성능을 실제로 올릴 수 있는지 검증</a:t>
            </a:r>
            <a:endParaRPr lang="en-US" sz="1600" dirty="0"/>
          </a:p>
          <a:p>
            <a:pPr marL="223520" indent="-22352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검증은 두 축으로 분리: (1) 구조/분포 적합성(Fidelity) (2) 예측 유용성(Utility)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494008"/>
            <a:ext cx="5394960" cy="310896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77240" y="454887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전략(현재)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4859768"/>
            <a:ext cx="5257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3520" indent="-22352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ver1/ver2: “여러 합성 방법”을 동일 지표로 비교해 상대적인 장단점 파악</a:t>
            </a:r>
            <a:endParaRPr lang="en-US" sz="1600" dirty="0"/>
          </a:p>
          <a:p>
            <a:pPr marL="223520" indent="-22352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단계: 다대일 분석(모든 X → 특정 Y 1개)로 좁혀, 해석 가능한 가설을 세우고 검증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0" y="2116568"/>
            <a:ext cx="5120640" cy="1690616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629400" y="2281160"/>
            <a:ext cx="4663440" cy="23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타당성 체크(이 발표에서 확인할 것)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29400" y="2619488"/>
            <a:ext cx="4663440" cy="11008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train/test 분할이 공정한가? (style 층화)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지표가 “복제/외삽/구조붕괴”를 잘 구분하는가?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결과가 특정 설정(증강 배수, seed)에 과민한가?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4108936"/>
            <a:ext cx="5120640" cy="1374289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629400" y="4273529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 논문 맥락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29400" y="4611857"/>
            <a:ext cx="4785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250개 맥주 × 22개 스타일, 200+ 화학 특성, trained panel 관능 평가를 기반으로 ML(10종) 비교. 논문은 Gradient Boosting이 최고 성능이라고 보고.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7620" tIns="7620" rIns="7620" bIns="762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데이터 &amp; 전처리(Data &amp; Preprocessing)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12191695" cy="201168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7874" tIns="7874" rIns="7874" bIns="787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논문/Zenodo 흐름을 최대한 준수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051560"/>
            <a:ext cx="566928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14400" y="121615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요약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표본: 250개 맥주, 22개 스타일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X(화학): 200+ 특성(실험에서는 231개 연속형 변수)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Y(전문 패널): 50개 관능 descriptor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514600"/>
            <a:ext cx="566928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14400" y="26791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전처리(핵심만)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결측치: 평균 대치(mean imputation)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스케일: log/표준화(standardization)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분할: 스타일 층화(stratified) 기반 train/test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반복: ver2에서 repeats=3로 평균/분산 보고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4251960"/>
            <a:ext cx="5669280" cy="12344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14400" y="441655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“style 층화”를 유지하나?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75488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스타일은 “하위 모집단” 역할을 함.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train/test에서 스타일 분포가 달라지면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성능과 해석이 왜곡될 수 있음.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0" y="1051559"/>
            <a:ext cx="5079402" cy="490100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903720" y="11887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 구성(개념도)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95160" y="1691640"/>
            <a:ext cx="4480560" cy="6858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223760" y="189280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X: 화학 프로파일 (231)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95160" y="2587752"/>
            <a:ext cx="4480560" cy="6858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223760" y="27889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Y: 관능 점수 (50)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995160" y="3483864"/>
            <a:ext cx="4480560" cy="6858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223760" y="3685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style: 22개 라벨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52068" y="4251959"/>
            <a:ext cx="0" cy="230931"/>
          </a:xfrm>
          <a:prstGeom prst="line">
            <a:avLst/>
          </a:prstGeom>
          <a:noFill/>
          <a:ln w="38100">
            <a:solidFill>
              <a:srgbClr val="1F4E7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995160" y="4562855"/>
            <a:ext cx="448056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223760" y="469087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(style stratified)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23760" y="500176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ver2: repeats=3로 평균±표준편차 보고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7620" tIns="7620" rIns="7620" bIns="762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원본 데이터 진단(EDA)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12191695" cy="201168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7874" tIns="7874" rIns="7874" bIns="787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분포/왜도/정규성: “단순 가우시안 가정” 위험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66751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/mnt/data/plot_1_skew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25980"/>
            <a:ext cx="6309360" cy="3154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6190488"/>
            <a:ext cx="6309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화학 변수 231개: |왜도| 분포 (평균 2.86)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543800" y="1097280"/>
            <a:ext cx="3959352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772400" y="1261872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관측(요약)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0" y="1600200"/>
            <a:ext cx="35021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Shapiro 정규성 통과: 5/231(≈2.2%)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|왜도| 평균: 2.86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|왜도| &gt; 1: 71% / &gt;2: 50% / &gt;5: 19%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첨도(kurtosis) &gt; 10: 35%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“롱테일 + 희귀 성분”이 많아 단순 정규 모델은 취약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543800" y="3246120"/>
            <a:ext cx="3959352" cy="14173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7772400" y="3410712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 포인트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0" y="3749040"/>
            <a:ext cx="35021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로그 변환(log transform) 이후에도 비정규/꼬리 유지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합성 모델은 “마진 분포” + “의존성” 동시 보존 필요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따라서 단순 부트스트랩/단변량 KDE는 한계가 명확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7620" tIns="7620" rIns="7620" bIns="762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원본 데이터 진단(EDA)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12191695" cy="201168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7874" tIns="7874" rIns="7874" bIns="787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의존 구조 + 선형 유효 차원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57150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/mnt/data/plot_2_correlation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1280160"/>
            <a:ext cx="5120640" cy="2240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3584448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Pearson(선형) vs Spearman(순위) 상관 차이 분포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85800" y="3977640"/>
            <a:ext cx="57150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/mnt/data/plot_3_pca_dimen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7340" y="4160520"/>
            <a:ext cx="3931920" cy="19659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6190488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누적 설명분산: 95%까지 필요한 성분 수(≈105)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629400" y="1097280"/>
            <a:ext cx="4873752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6858000" y="1261872"/>
            <a:ext cx="4416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관측(요약)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858000" y="1600200"/>
            <a:ext cx="44165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Pearson≈Spearman인 쌍이 많음 → “단조(순위) 의존성”이 강한 편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동시에 일부 쌍은 큰 차이 → 이상치/비선형/희귀 구간 존재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PCA 95% 설명에 ≈105성분 필요 → 구조는 단순 저차원(10 이하)이라고 보기 어려움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629400" y="3429000"/>
            <a:ext cx="4873752" cy="16916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6858000" y="3593592"/>
            <a:ext cx="4416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합성/증강에 주는 시사점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858000" y="3931920"/>
            <a:ext cx="441655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Copula(코퓰러)는 “순위 의존성 + 복잡한 마진”에 비교적 적합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딥 생성(VAE/GAN/DDPM)은 N이 작고 유효 차원이 커서 “암기/불안정” 위험 → DCR 같은 과적합 진단이 필수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7620" tIns="7620" rIns="7620" bIns="762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원본 데이터 진단(EDA)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12191695" cy="201168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7874" tIns="7874" rIns="7874" bIns="787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스타일(style) = 하위 모집단 가능성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74066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/mnt/data/plot_4_tsne_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56360"/>
            <a:ext cx="7040880" cy="4693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6190488"/>
            <a:ext cx="7040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시각화: 스타일별로 일부 군집/혼합 패턴 관찰 (탐색용)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275320" y="1097280"/>
            <a:ext cx="3227832" cy="20574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503920" y="1261872"/>
            <a:ext cx="2770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해석(주의 포함)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03920" y="1600200"/>
            <a:ext cx="27706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t-SNE는 전역 거리(멀리/가깝다)를 믿으면 안 됨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다만 “style별 분포가 다를 수 있다”는 가설을 강화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평가 분할은 style 층화가 안전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후속 실험에서 style별 제거/랜덤 제거 비교로 검증 가능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75320" y="3337560"/>
            <a:ext cx="3227832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8503920" y="3502152"/>
            <a:ext cx="2770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ver2에서 반영한 점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503920" y="3840480"/>
            <a:ext cx="27706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repeats=3로 split 민감도 완화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후속 계획: “특정 style/cluster 제거”가 랜덤 제거보다 더 성능을 깎는지 테스트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7620" tIns="7620" rIns="7620" bIns="762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실험 설계(공통 틀)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12191695" cy="201168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7874" tIns="7874" rIns="7874" bIns="787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6가지 합성 방법 × 2단계 평가(구조/유용성)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005840"/>
            <a:ext cx="5394960" cy="310896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060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합성 방법(6)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389888"/>
            <a:ext cx="52578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5580" indent="-1955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Bootstrapping: 단순 복원추출(복제 한계 하한선)</a:t>
            </a:r>
            <a:endParaRPr lang="en-US" sz="1400" dirty="0"/>
          </a:p>
          <a:p>
            <a:pPr marL="195580" indent="-1955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KDE: 주변 분포 중심(의존성 약함)</a:t>
            </a:r>
            <a:endParaRPr lang="en-US" sz="1400" dirty="0"/>
          </a:p>
          <a:p>
            <a:pPr marL="195580" indent="-1955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Copula: 순위 의존성 보존(선형/단조)</a:t>
            </a:r>
            <a:endParaRPr lang="en-US" sz="1400" dirty="0"/>
          </a:p>
          <a:p>
            <a:pPr marL="195580" indent="-1955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VAE: 잠재공간 기반 생성(비선형 구조 학습 기대)</a:t>
            </a:r>
            <a:endParaRPr lang="en-US" sz="1400" dirty="0"/>
          </a:p>
          <a:p>
            <a:pPr marL="195580" indent="-1955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CTGAN: Tabular GAN 표준 베이스라인</a:t>
            </a:r>
            <a:endParaRPr lang="en-US" sz="1400" dirty="0"/>
          </a:p>
          <a:p>
            <a:pPr marL="195580" indent="-1955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TabDDPM: 확산 기반(tabular diffusion) 비교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3794760"/>
            <a:ext cx="5394960" cy="310896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38496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지표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5257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5580" indent="-1955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KS-test: 변수별 분포 유사도(각 feature의 분포가 비슷한지)</a:t>
            </a:r>
            <a:endParaRPr lang="en-US" sz="1400" dirty="0"/>
          </a:p>
          <a:p>
            <a:pPr marL="195580" indent="-1955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PCD: 상관 행렬 차이(화학-화학, 화학-관능 구조 보존)</a:t>
            </a:r>
            <a:endParaRPr lang="en-US" sz="1400" dirty="0"/>
          </a:p>
          <a:p>
            <a:pPr marL="195580" indent="-1955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DCR: 가장 가까운 실데이터 거리(너무 가까움=복제, 너무 멂=이상치)</a:t>
            </a:r>
            <a:endParaRPr lang="en-US" sz="1400" dirty="0"/>
          </a:p>
          <a:p>
            <a:pPr marL="195580" indent="-1955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Utility: TSTR(합성으로 학습→실데이터 테스트) + AUG(실+합성으로 학습)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46520" y="1005840"/>
            <a:ext cx="507492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675120" y="1170432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ver1 → ver2: 무엇을 더 엄밀하게 만들었나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29400" y="1554480"/>
            <a:ext cx="4709160" cy="566928"/>
          </a:xfrm>
          <a:prstGeom prst="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739128" y="1700784"/>
            <a:ext cx="1014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73568" y="1700784"/>
            <a:ext cx="1472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65208" y="1700784"/>
            <a:ext cx="1563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29400" y="2121408"/>
            <a:ext cx="4709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739128" y="2267712"/>
            <a:ext cx="1014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증강 배수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73568" y="2267712"/>
            <a:ext cx="1472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(n_synth=2000)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65208" y="2267712"/>
            <a:ext cx="1563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(N_synth=400)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29400" y="2688336"/>
            <a:ext cx="470916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739128" y="2834640"/>
            <a:ext cx="1014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73568" y="2834640"/>
            <a:ext cx="1472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실행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65208" y="2834640"/>
            <a:ext cx="1563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repeats=3 (평균±표준편차)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29400" y="3255264"/>
            <a:ext cx="4709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739128" y="3401568"/>
            <a:ext cx="1014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973568" y="3401568"/>
            <a:ext cx="1472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KS(X), PCD(X–X), DCR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65208" y="3401568"/>
            <a:ext cx="1563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KS(X)+KS(Y), PCD(X–X)+PCD(X–Y), DCR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29400" y="3822192"/>
            <a:ext cx="470916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739128" y="3968496"/>
            <a:ext cx="1014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973568" y="3968496"/>
            <a:ext cx="1472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TSTR/AUG (GBDT+MLP, per-descriptor)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65208" y="3968496"/>
            <a:ext cx="1563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TSTR/AUG (GBDT+MLP), 요약통계+랭크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629400" y="4389120"/>
            <a:ext cx="4709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739128" y="4535424"/>
            <a:ext cx="1014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973568" y="4535424"/>
            <a:ext cx="1472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빠른 비교/감 잡기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665208" y="4535424"/>
            <a:ext cx="1563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보수적 설정에서 “재현성” 확인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7620" tIns="7620" rIns="7620" bIns="762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ver1 결과(10× 증강)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12191695" cy="201168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7874" tIns="7874" rIns="7874" bIns="787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빠른 비교: “무엇이 될 것 같은가/안 되는가”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41832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성능 변화: (AUG R² − TRTR R²) 평균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0보다 크면 “실데이터만 학습(TRTR)” 대비 평균 성능 향상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85800" y="1325880"/>
          <a:ext cx="566928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85800" y="3776472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성능 변화: (AUG R² − TRTR R²) 평균 (MLP)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3977640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MLP에서는 Copula가 평균적으로 플러스(+) 경향</a:t>
            </a:r>
            <a:endParaRPr lang="en-US" sz="9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85800" y="4160520"/>
          <a:ext cx="566928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6629400" y="1325880"/>
            <a:ext cx="489204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6858000" y="1490472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관측/해석(초안)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858000" y="1828800"/>
            <a:ext cx="4434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10× 증강에서는 “유용성(Utility)”이 방법/예측기별로 크게 갈림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GBDT: VAE/Copula가 손실이 작음(≈0 근처)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MLP: Copula는 평균적으로 성능 향상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Bootstrapping은 구조 보존보다 “복제”에 가까워 과적합 위험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CTGAN/TabDDPM은 작은 N에서 불안정/성능 저하가 관찰됨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629400" y="3566160"/>
            <a:ext cx="4892040" cy="14630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6858000" y="3730752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ver1의 한계(왜 ver2로 갔나)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858000" y="406908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증강 배수 10×는 “성능 상승”을 과대평가/왜곡할 가능성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실행 1회는 seed/split 민감도를 반영 못함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그래서 ver2에서 2× + repeats=3 + X–Y 구조 지표를 추가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7620" tIns="7620" rIns="7620" bIns="762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ver2 결과(2×, repeats=3)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12191695" cy="201168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7874" tIns="7874" rIns="7874" bIns="787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Fidelity(구조/분포 적합성)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033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KS(X) 평균 (낮을수록 좋음)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85800" y="1417320"/>
          <a:ext cx="361188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26280" y="1033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PCD(X–Y, Spearman) (낮을수록 좋음)</a:t>
            </a:r>
            <a:endParaRPr lang="en-US" sz="12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526280" y="1417320"/>
          <a:ext cx="361188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8366760" y="1033272"/>
            <a:ext cx="3136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DCR 암기율(≤real q05) (낮을수록 좋음)</a:t>
            </a:r>
            <a:endParaRPr lang="en-US" sz="1200" dirty="0"/>
          </a:p>
        </p:txBody>
      </p:sp>
      <p:graphicFrame>
        <p:nvGraphicFramePr>
          <p:cNvPr id="9" name="Chart 2"/>
          <p:cNvGraphicFramePr/>
          <p:nvPr/>
        </p:nvGraphicFramePr>
        <p:xfrm>
          <a:off x="8366760" y="1417320"/>
          <a:ext cx="3136392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Shape 5"/>
          <p:cNvSpPr/>
          <p:nvPr/>
        </p:nvSpPr>
        <p:spPr>
          <a:xfrm>
            <a:off x="685800" y="3931920"/>
            <a:ext cx="1097280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6"/>
          <p:cNvSpPr/>
          <p:nvPr/>
        </p:nvSpPr>
        <p:spPr>
          <a:xfrm>
            <a:off x="914400" y="409651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관측(초안)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914400" y="443484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Bootstrapping: KS는 좋지만 DCR 암기율이 거의 1 → “복제” 성격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Gaussian Copula: KS/PCD가 상대적으로 양호 + 암기율 매우 낮음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VAE: AUG 성능은 좋아도 PCD가 크게 증가 → “구조 붕괴” 가능성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CTGAN/TabDDPM: 작은 N에서 KS/PCD가 불리하게 나오는 경향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7620" tIns="7620" rIns="7620" bIns="762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ver2 결과(2×, repeats=3)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12191695" cy="201168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7874" tIns="7874" rIns="7874" bIns="787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Utility(예측 유용성)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033272"/>
            <a:ext cx="6446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gain (GBDT): 평균 (AUG R² − TRTR R²)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6446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양수(+)면 평균적으로 “실데이터만 학습”보다 좋아짐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85800" y="1417320"/>
          <a:ext cx="64465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7406640" y="1033272"/>
            <a:ext cx="4096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Descriptor별 “AUG gain” 평균 랭크 (낮을수록 좋음)</a:t>
            </a:r>
            <a:endParaRPr lang="en-US" sz="12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7406640" y="1417320"/>
          <a:ext cx="4096512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685800" y="4526280"/>
            <a:ext cx="10972800" cy="18745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/>
          <p:nvPr/>
        </p:nvSpPr>
        <p:spPr>
          <a:xfrm>
            <a:off x="914400" y="46908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해석(초안)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14400" y="50292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2×(보수적) 증강에서도 VAE/Copula가 평균 AUG gain에서 양수(+)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다만 ver2의 Fidelity 결과와 함께 보면: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Copula: 구조 보존(PCD, DCR)도 양호한 편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VAE: 성능은 좋지만 구조(PCD) 훼손 가능성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“성능만”으로 선택하면 위험, Fidelity+Utility를 같이 봐야 함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7620" tIns="7620" rIns="7620" bIns="762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ver1→ver2 종합 해석(초안)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12191695" cy="201168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7874" tIns="7874" rIns="7874" bIns="787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“무엇이 유망하고, 무엇이 위험한가”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005840"/>
            <a:ext cx="5669280" cy="310896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060704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관찰된 패턴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5486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9550" indent="-20955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Bootstrapping: DCR 암기율이 매우 높음 → 데이터 복제 성격(Overfitting 위험)</a:t>
            </a:r>
            <a:endParaRPr lang="en-US" sz="1500" dirty="0"/>
          </a:p>
          <a:p>
            <a:pPr marL="209550" indent="-20955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Copula: 분포(KS) + 구조(PCD) + 암기(DCR)에서 균형이 좋음 → “보수적이지만 안정적인” 후보</a:t>
            </a:r>
            <a:endParaRPr lang="en-US" sz="1500" dirty="0"/>
          </a:p>
          <a:p>
            <a:pPr marL="209550" indent="-20955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VAE: Utility 개선 신호는 있으나 PCD가 크게 나오는 경우가 있어 “구조 붕괴” 리스크</a:t>
            </a:r>
            <a:endParaRPr lang="en-US" sz="1500" dirty="0"/>
          </a:p>
          <a:p>
            <a:pPr marL="209550" indent="-20955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CTGAN/TabDDPM: 작은 N에서 불안정/성능 저하가 관찰(추가 튜닝/제약 필요)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3429000"/>
            <a:ext cx="5669280" cy="310896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3483864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해석을 더 단단히 만들려면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54864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9550" indent="-20955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“증강 배수(2×/10×)”에 따라 결론이 바뀌는지 민감도 분석이 필요</a:t>
            </a:r>
            <a:endParaRPr lang="en-US" sz="1500" dirty="0"/>
          </a:p>
          <a:p>
            <a:pPr marL="209550" indent="-20955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style(하위 모집단) 관점에서 특정 영역 데이터가 모델에 얼마나 중요한지 검증 필요</a:t>
            </a:r>
            <a:endParaRPr lang="en-US" sz="1500" dirty="0"/>
          </a:p>
          <a:p>
            <a:pPr marL="209550" indent="-20955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TSTR만으로는 “현실적 유용성” 평가가 약함 → AUG + TRTR baseline을 같이 봄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720840" y="1005840"/>
            <a:ext cx="48006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949440" y="1152144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의사결정 프레임(간단)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49440" y="14630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“Fidelity가 무너지면 Utility 상승도 위험”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0" y="1737360"/>
            <a:ext cx="43434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949440" y="3726180"/>
            <a:ext cx="4343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121140" y="1737360"/>
            <a:ext cx="0" cy="39776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086600" y="1874520"/>
            <a:ext cx="1897380" cy="171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 ↑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86600" y="2331720"/>
            <a:ext cx="18973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후보: Copula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258300" y="1874520"/>
            <a:ext cx="1897380" cy="171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 ↓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↑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58300" y="2331720"/>
            <a:ext cx="18973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후보: VAE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(추가 제약/검증 필요)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86600" y="3863340"/>
            <a:ext cx="1897380" cy="171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 ↑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86600" y="4320540"/>
            <a:ext cx="18973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보수적 샘플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(개선 여지 제한)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258300" y="3863340"/>
            <a:ext cx="1897380" cy="171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 ↓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58300" y="4320540"/>
            <a:ext cx="18973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CTGAN/TabDDPM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(소량 데이터에서 재설계 필요)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7620" tIns="7620" rIns="7620" bIns="762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다음 실험 계획(교수님/박사님 피드백 요청)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12191695" cy="201168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7874" tIns="7874" rIns="7874" bIns="787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다대일로 좁혀 “해석 가능한 가설”을 엄밀히 검증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557784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14400" y="126187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1. Y 1개 선정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TRTR 성능이 높은 descriptor를 우선 후보로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(예) alcohol, bitterness, acidity …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목표: 신호가 강한 Y에서 관계를 “먼저” 안정적으로 포착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606040"/>
            <a:ext cx="5577840" cy="15087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14400" y="27706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2. “데이터를 바꾸지 않고” 검증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(제안) 유사 맥주 그룹 제거 vs 동일 수 랜덤 제거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style 그룹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화학 클러스터(PCA+KMeans)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목적: 특정 데이터 영역이 관계 학습에 핵심인지 확인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4343400"/>
            <a:ext cx="5577840" cy="14173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14400" y="450799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3. 조건부 합성(안전한 반사실)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8463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“변수 하나만 바꾸기”는 off-manifold 위험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대신: 조건부 샘플링으로 현실적인 조합만 생성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(예: Copula 기반 p(X_-j|X_j))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목표: 가설을 ‘현실 가능한 변화’에서 검증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29400" y="1097280"/>
            <a:ext cx="48920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858000" y="126187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피드백 질문(확정이 필요한 부분)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1691640"/>
            <a:ext cx="45262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5580" indent="-1955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Y를 무엇으로 시작하는 게 가장 설득력 있을지? (예: 산미 vs 알코올 vs 쓴맛)</a:t>
            </a:r>
            <a:endParaRPr lang="en-US" sz="1400" dirty="0"/>
          </a:p>
          <a:p>
            <a:pPr marL="195580" indent="-1955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“증강 배수”를 2×로 고정할지, 2×/5×/10× 민감도를 같이 보고할지?</a:t>
            </a:r>
            <a:endParaRPr lang="en-US" sz="1400" dirty="0"/>
          </a:p>
          <a:p>
            <a:pPr marL="195580" indent="-1955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 지표 중 “논문에 포함할 핵심 지표”를 무엇으로 둘지? (KS/PCD/DCR 중)</a:t>
            </a:r>
            <a:endParaRPr lang="en-US" sz="1400" dirty="0"/>
          </a:p>
          <a:p>
            <a:pPr marL="195580" indent="-1955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후속 wet-lab(실험 검증)까지 포함할지, 계산 실험으로 한정할지?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0" y="544068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이 PPT는 초안이며, 결과 해석 문구는 지도교수님 피드백 후 “내 언어”로 재서술 예정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2393</Words>
  <Application>Microsoft Office PowerPoint</Application>
  <PresentationFormat>와이드스크린</PresentationFormat>
  <Paragraphs>224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이연승</cp:lastModifiedBy>
  <cp:revision>2</cp:revision>
  <dcterms:created xsi:type="dcterms:W3CDTF">2026-01-25T17:26:17Z</dcterms:created>
  <dcterms:modified xsi:type="dcterms:W3CDTF">2026-01-25T17:47:08Z</dcterms:modified>
</cp:coreProperties>
</file>