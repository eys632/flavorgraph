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E99D2B-248F-47BF-8142-0DADFE857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9A8255-496E-4A5C-BC80-DF5DDFD7A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F8D212-35DC-42A2-B628-41C75734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1C72F-6E00-49CC-9D8B-00F04AB3CBD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7B6F90-E03B-46BB-A5F9-5C2B89FC2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1B2739-909B-41FF-A05B-0B8599117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D483C-E71A-4897-880C-74A9ED19F4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2377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43C071-FACD-4C4B-B7B8-F206E87D4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FDAE66-8F98-4FD3-B5C1-3641FB9E6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905F97-B720-4D2C-87FE-AF23207A3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1C72F-6E00-49CC-9D8B-00F04AB3CBD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DDBF01-EF30-4452-8ADC-0C377FC24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0757B8-7C9B-4CC8-AF63-20056FF5B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D483C-E71A-4897-880C-74A9ED19F4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3303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6CEA74-6F2B-4685-9D40-81C041EF0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1FE43D-368D-4B11-858F-F130B17A4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01B2CB-1D1B-486E-BB18-B08BC231C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1C72F-6E00-49CC-9D8B-00F04AB3CBD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A7F46D-F943-4DA4-9859-2EB12D073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CC1EC3-C422-411B-9478-E00763A4E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D483C-E71A-4897-880C-74A9ED19F4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948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DF6ADC-BF39-4A80-A863-886EB4D7F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463F75-A456-4BA8-AD5A-F8E792698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86E8C7-CB6A-467B-86DD-DEA400A70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64109B6-260F-442D-99AD-55F2DB251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1C72F-6E00-49CC-9D8B-00F04AB3CBD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55D59E-507D-4B72-8FE9-1B2B6DB1A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C1918F-C047-46F2-A087-E21D48F0F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D483C-E71A-4897-880C-74A9ED19F4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9180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FEA846-9094-4A60-9CA0-B26C5E04A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A1A9870-4388-457F-8ACD-A1FF6BABF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D4FFAE-5858-4BA0-A00E-6C5FBC712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60F883-4E73-4FFB-92B6-BF2E9ED40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6F10EA2-1882-4ACE-93E8-B90F9DE307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8313CD-1FE9-4C07-AC4E-D0302FB68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1C72F-6E00-49CC-9D8B-00F04AB3CBD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93DDD95-D599-4EBE-B79C-34346A16A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17EF9EC-AE49-428A-972E-EBD311FB0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D483C-E71A-4897-880C-74A9ED19F4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291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DD215-7281-47C0-8D8A-8E92CFCAA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A7DF036-1ED7-4254-88D8-B3F8D46A6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1C72F-6E00-49CC-9D8B-00F04AB3CBD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5ABB5A-44A7-4D8B-A0D2-87EB07251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6319F5-ECF4-44F1-BBF0-97A46372F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D483C-E71A-4897-880C-74A9ED19F4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105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8A4EF72-76CA-4036-8D7F-4FE08BD97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1C72F-6E00-49CC-9D8B-00F04AB3CBD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C4669D6-E00D-4001-9846-549144463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661AFF-BE53-4DE4-8CDB-3D0E6D8D7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D483C-E71A-4897-880C-74A9ED19F4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44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F1719-5114-4055-9D45-2AE8AD548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671D4F-3944-4D9A-B3BF-44E646891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E2B948-CB96-4C03-9826-471428D49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42D514-2303-4C4E-8F7D-EE49A902B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1C72F-6E00-49CC-9D8B-00F04AB3CBD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12CE06-CCA4-406E-A27B-33A36EA2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A26F0E-FA94-400A-8C3C-D3E53193D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D483C-E71A-4897-880C-74A9ED19F4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5977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4F54A-CB88-41E7-B2C1-B4275E07F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D4EF9B-595E-4D63-BB62-7EDF679037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466256-17E8-4E5B-8A38-9BD4E73CE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E5F600-DA07-4F85-B928-856B9EF0A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1C72F-6E00-49CC-9D8B-00F04AB3CBD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86E6975-1626-42C0-97DC-DD53EAA2C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5452B5-E964-47B0-92AA-3F10E57E4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D483C-E71A-4897-880C-74A9ED19F4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226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5B66F9-6B9A-47A3-AD4F-1F090B7B5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5D4D54-A79E-4858-BD16-1A4337BD0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9DF9E9-C3F1-4052-ABEA-57C2F2BF9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1C72F-6E00-49CC-9D8B-00F04AB3CBD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75E87F-E60A-410D-B7FE-0BE54BFB6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86B95E-6A08-45FA-8383-9B3553B8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D483C-E71A-4897-880C-74A9ED19F4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508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6380D25-6A46-47E3-BC2B-3468C4EB61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F4173F-3485-4922-8FAA-31BDF2048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246C59-9C8C-471E-BC39-801849DE0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1C72F-6E00-49CC-9D8B-00F04AB3CBD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5DCEC9-ECBD-417A-91ED-B2E020E0C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78506F-06D1-4325-A2CC-FF2BFB314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D483C-E71A-4897-880C-74A9ED19F4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022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360D60-79FE-4F18-B290-30B761EFD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B27E37-DC9D-4EF2-A709-BB2CFF475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5C5C8F-346B-4F0C-817D-DEAB31989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1C72F-6E00-49CC-9D8B-00F04AB3CBDB}" type="datetimeFigureOut">
              <a:rPr lang="ko-KR" altLang="en-US" smtClean="0"/>
              <a:t>2026-01-19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BAF78C-8D25-4E7E-A24F-51E6DBE44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61F52D-4DC2-4153-9644-5AB364C2F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5D483C-E71A-4897-880C-74A9ED19F4B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602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27B9A0-AEC1-4EA0-BBA1-3B4790F87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10859"/>
            <a:ext cx="10515600" cy="2979208"/>
          </a:xfrm>
        </p:spPr>
        <p:txBody>
          <a:bodyPr>
            <a:normAutofit/>
          </a:bodyPr>
          <a:lstStyle/>
          <a:p>
            <a:pPr algn="ctr"/>
            <a:r>
              <a:rPr lang="ko-KR" altLang="en-US" sz="4200"/>
              <a:t>데이터 증강을 통한 </a:t>
            </a:r>
            <a:r>
              <a:rPr lang="en-US" altLang="ko-KR" sz="4200"/>
              <a:t>BEER </a:t>
            </a:r>
            <a:r>
              <a:rPr lang="ko-KR" altLang="en-US" sz="4200"/>
              <a:t>데이터 예측 개선</a:t>
            </a:r>
            <a:br>
              <a:rPr lang="en-US" altLang="ko-KR"/>
            </a:br>
            <a:br>
              <a:rPr lang="en-US" altLang="ko-KR"/>
            </a:br>
            <a:r>
              <a:rPr lang="ko-KR" altLang="en-US" sz="3300"/>
              <a:t>고영민</a:t>
            </a:r>
            <a:br>
              <a:rPr lang="en-US" altLang="ko-KR" sz="3300"/>
            </a:br>
            <a:r>
              <a:rPr lang="en-US" altLang="ko-KR" sz="3300"/>
              <a:t>2026 / 1 / 19</a:t>
            </a:r>
            <a:endParaRPr lang="ko-KR" altLang="en-US" sz="3300"/>
          </a:p>
        </p:txBody>
      </p:sp>
    </p:spTree>
    <p:extLst>
      <p:ext uri="{BB962C8B-B14F-4D97-AF65-F5344CB8AC3E}">
        <p14:creationId xmlns:p14="http://schemas.microsoft.com/office/powerpoint/2010/main" val="206835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4C60BD2-DDDC-406C-B359-036FC74C9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504" y="428975"/>
            <a:ext cx="6630325" cy="2562583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2E4F748-99D4-430C-AA13-423BF534B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727393"/>
              </p:ext>
            </p:extLst>
          </p:nvPr>
        </p:nvGraphicFramePr>
        <p:xfrm>
          <a:off x="1930400" y="3429000"/>
          <a:ext cx="8051800" cy="7315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34162901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677575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084294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</a:rPr>
                        <a:t>구분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b="1">
                          <a:solidFill>
                            <a:srgbClr val="1F1F1F"/>
                          </a:solidFill>
                          <a:effectLst/>
                        </a:rPr>
                        <a:t>1) </a:t>
                      </a: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</a:rPr>
                        <a:t>고전 확률통계적 방법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altLang="ko-KR" sz="1400" b="1">
                          <a:solidFill>
                            <a:srgbClr val="1F1F1F"/>
                          </a:solidFill>
                          <a:effectLst/>
                        </a:rPr>
                        <a:t>2) </a:t>
                      </a:r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</a:rPr>
                        <a:t>생성 모델 기반 방법 </a:t>
                      </a:r>
                      <a:r>
                        <a:rPr lang="en-US" altLang="ko-KR" sz="1400" b="1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Generative AI)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48257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ko-KR" altLang="en-US" sz="1400" b="1">
                          <a:solidFill>
                            <a:srgbClr val="1F1F1F"/>
                          </a:solidFill>
                          <a:effectLst/>
                        </a:rPr>
                        <a:t>대표 기술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SMOTE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, ADASYN </a:t>
                      </a:r>
                      <a:r>
                        <a:rPr lang="ko-KR" altLang="en-US" sz="1400">
                          <a:solidFill>
                            <a:srgbClr val="1F1F1F"/>
                          </a:solidFill>
                          <a:effectLst/>
                        </a:rPr>
                        <a:t>등</a:t>
                      </a:r>
                      <a:endParaRPr lang="ko-KR" alt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VAE, GAN, Diffusion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691851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6672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8EF8692-390C-4F47-88C3-F325C7278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76"/>
            <a:ext cx="12192000" cy="681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4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FE83DE-F9B8-4E92-A78D-E528AA521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5" y="0"/>
            <a:ext cx="121727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6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09336E-D16E-4208-BF5B-F4A994D28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32"/>
            <a:ext cx="12192000" cy="6825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814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3DE6C5F-A5F3-462C-8E73-77ACF292A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30"/>
            <a:ext cx="12192000" cy="683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186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0C3BCA9-7F1F-4BB2-B525-59631E5354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021454"/>
              </p:ext>
            </p:extLst>
          </p:nvPr>
        </p:nvGraphicFramePr>
        <p:xfrm>
          <a:off x="465667" y="1253331"/>
          <a:ext cx="11463866" cy="435133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17993">
                  <a:extLst>
                    <a:ext uri="{9D8B030D-6E8A-4147-A177-3AD203B41FA5}">
                      <a16:colId xmlns:a16="http://schemas.microsoft.com/office/drawing/2014/main" val="3398038458"/>
                    </a:ext>
                  </a:extLst>
                </a:gridCol>
                <a:gridCol w="1817993">
                  <a:extLst>
                    <a:ext uri="{9D8B030D-6E8A-4147-A177-3AD203B41FA5}">
                      <a16:colId xmlns:a16="http://schemas.microsoft.com/office/drawing/2014/main" val="3142476002"/>
                    </a:ext>
                  </a:extLst>
                </a:gridCol>
                <a:gridCol w="647224">
                  <a:extLst>
                    <a:ext uri="{9D8B030D-6E8A-4147-A177-3AD203B41FA5}">
                      <a16:colId xmlns:a16="http://schemas.microsoft.com/office/drawing/2014/main" val="1592954790"/>
                    </a:ext>
                  </a:extLst>
                </a:gridCol>
                <a:gridCol w="1838189">
                  <a:extLst>
                    <a:ext uri="{9D8B030D-6E8A-4147-A177-3AD203B41FA5}">
                      <a16:colId xmlns:a16="http://schemas.microsoft.com/office/drawing/2014/main" val="3163954688"/>
                    </a:ext>
                  </a:extLst>
                </a:gridCol>
                <a:gridCol w="905934">
                  <a:extLst>
                    <a:ext uri="{9D8B030D-6E8A-4147-A177-3AD203B41FA5}">
                      <a16:colId xmlns:a16="http://schemas.microsoft.com/office/drawing/2014/main" val="221883464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33631636"/>
                    </a:ext>
                  </a:extLst>
                </a:gridCol>
                <a:gridCol w="3674533">
                  <a:extLst>
                    <a:ext uri="{9D8B030D-6E8A-4147-A177-3AD203B41FA5}">
                      <a16:colId xmlns:a16="http://schemas.microsoft.com/office/drawing/2014/main" val="672957268"/>
                    </a:ext>
                  </a:extLst>
                </a:gridCol>
              </a:tblGrid>
              <a:tr h="220720">
                <a:tc>
                  <a:txBody>
                    <a:bodyPr/>
                    <a:lstStyle/>
                    <a:p>
                      <a:r>
                        <a:rPr lang="en-US" sz="1100" b="1"/>
                        <a:t>Dataset variant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/>
                        <a:t>Source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/>
                        <a:t>N total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Train/Test split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/>
                        <a:t>X dim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/>
                        <a:t>Y dim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Preprocessing </a:t>
                      </a:r>
                      <a:r>
                        <a:rPr lang="ko-KR" altLang="en-US" sz="1100" b="1"/>
                        <a:t>요약</a:t>
                      </a:r>
                    </a:p>
                  </a:txBody>
                  <a:tcPr marL="31531" marR="31531" marT="15766" marB="15766" anchor="ctr"/>
                </a:tc>
                <a:extLst>
                  <a:ext uri="{0D108BD9-81ED-4DB2-BD59-A6C34878D82A}">
                    <a16:rowId xmlns:a16="http://schemas.microsoft.com/office/drawing/2014/main" val="3777023572"/>
                  </a:ext>
                </a:extLst>
              </a:tr>
              <a:tr h="788286">
                <a:tc>
                  <a:txBody>
                    <a:bodyPr/>
                    <a:lstStyle/>
                    <a:p>
                      <a:r>
                        <a:rPr lang="en-US" sz="1100" b="1"/>
                        <a:t>Base raw (X,Y)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/>
                        <a:t>Excel: Sheet0(GC), Sheet3(Sensory)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/>
                        <a:t>250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200 / 50 </a:t>
                      </a:r>
                    </a:p>
                    <a:p>
                      <a:r>
                        <a:rPr lang="en-US" sz="1100"/>
                        <a:t>(seed=42, test_size=0.2)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/>
                        <a:t>231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/>
                        <a:t>50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메타 </a:t>
                      </a:r>
                      <a:r>
                        <a:rPr lang="en-US" altLang="ko-KR" sz="1100"/>
                        <a:t>3</a:t>
                      </a:r>
                      <a:r>
                        <a:rPr lang="ko-KR" altLang="en-US" sz="1100"/>
                        <a:t>열 제거 → </a:t>
                      </a:r>
                      <a:r>
                        <a:rPr lang="en-US" altLang="ko-KR" sz="1100" b="1"/>
                        <a:t>X=231</a:t>
                      </a:r>
                      <a:r>
                        <a:rPr lang="en-US" altLang="ko-KR" sz="1100"/>
                        <a:t>, </a:t>
                      </a:r>
                      <a:r>
                        <a:rPr lang="en-US" altLang="ko-KR" sz="1100" b="1"/>
                        <a:t>Y=50</a:t>
                      </a:r>
                      <a:r>
                        <a:rPr lang="en-US" altLang="ko-KR" sz="1100"/>
                        <a:t>. X </a:t>
                      </a:r>
                      <a:r>
                        <a:rPr lang="ko-KR" altLang="en-US" sz="1100"/>
                        <a:t>결측치 </a:t>
                      </a:r>
                      <a:r>
                        <a:rPr lang="ko-KR" altLang="en-US" sz="1100" b="1"/>
                        <a:t>평균대치</a:t>
                      </a:r>
                      <a:r>
                        <a:rPr lang="en-US" altLang="ko-KR" sz="1100" b="1"/>
                        <a:t>(mean imputation)</a:t>
                      </a:r>
                      <a:r>
                        <a:rPr lang="en-US" altLang="ko-KR" sz="1100"/>
                        <a:t>. </a:t>
                      </a:r>
                      <a:r>
                        <a:rPr lang="ko-KR" altLang="en-US" sz="1100"/>
                        <a:t>기본은 </a:t>
                      </a:r>
                      <a:r>
                        <a:rPr lang="ko-KR" altLang="en-US" sz="1100" b="1"/>
                        <a:t>정규화 </a:t>
                      </a:r>
                      <a:r>
                        <a:rPr lang="en-US" altLang="ko-KR" sz="1100" b="1"/>
                        <a:t>OFF</a:t>
                      </a:r>
                      <a:endParaRPr lang="ko-KR" altLang="en-US" sz="1100"/>
                    </a:p>
                  </a:txBody>
                  <a:tcPr marL="31531" marR="31531" marT="15766" marB="15766" anchor="ctr"/>
                </a:tc>
                <a:extLst>
                  <a:ext uri="{0D108BD9-81ED-4DB2-BD59-A6C34878D82A}">
                    <a16:rowId xmlns:a16="http://schemas.microsoft.com/office/drawing/2014/main" val="484857236"/>
                  </a:ext>
                </a:extLst>
              </a:tr>
              <a:tr h="504503">
                <a:tc>
                  <a:txBody>
                    <a:bodyPr/>
                    <a:lstStyle/>
                    <a:p>
                      <a:r>
                        <a:rPr lang="en-US" sz="1100" b="1"/>
                        <a:t>Generative input: raw joint [X|Y]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/>
                        <a:t>Train split only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/>
                        <a:t>200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/>
                        <a:t>-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/>
                        <a:t>231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/>
                        <a:t>50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생성모델 입력으로 </a:t>
                      </a:r>
                      <a:r>
                        <a:rPr lang="en-US" altLang="ko-KR" sz="1100" b="1"/>
                        <a:t>[X;Y] concat → 281</a:t>
                      </a:r>
                      <a:r>
                        <a:rPr lang="ko-KR" altLang="en-US" sz="1100" b="1"/>
                        <a:t>차원</a:t>
                      </a:r>
                      <a:r>
                        <a:rPr lang="en-US" altLang="ko-KR" sz="1100"/>
                        <a:t>(raw scale)</a:t>
                      </a:r>
                    </a:p>
                  </a:txBody>
                  <a:tcPr marL="31531" marR="31531" marT="15766" marB="15766" anchor="ctr"/>
                </a:tc>
                <a:extLst>
                  <a:ext uri="{0D108BD9-81ED-4DB2-BD59-A6C34878D82A}">
                    <a16:rowId xmlns:a16="http://schemas.microsoft.com/office/drawing/2014/main" val="2308759276"/>
                  </a:ext>
                </a:extLst>
              </a:tr>
              <a:tr h="788286">
                <a:tc>
                  <a:txBody>
                    <a:bodyPr/>
                    <a:lstStyle/>
                    <a:p>
                      <a:r>
                        <a:rPr lang="en-US" sz="1100" b="1"/>
                        <a:t>Generative input: StandardScaler joint [X|Y]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/>
                        <a:t>Train split only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/>
                        <a:t>200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/>
                        <a:t>-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/>
                        <a:t>231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/>
                        <a:t>50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[X|Y]</a:t>
                      </a:r>
                      <a:r>
                        <a:rPr lang="ko-KR" altLang="en-US" sz="1100"/>
                        <a:t>에 </a:t>
                      </a:r>
                      <a:r>
                        <a:rPr lang="en-US" sz="1100" b="1"/>
                        <a:t>StandardScaler(z-score)</a:t>
                      </a:r>
                      <a:r>
                        <a:rPr lang="en-US" sz="1100"/>
                        <a:t> </a:t>
                      </a:r>
                      <a:r>
                        <a:rPr lang="ko-KR" altLang="en-US" sz="1100"/>
                        <a:t>적용</a:t>
                      </a:r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평균≈</a:t>
                      </a:r>
                      <a:r>
                        <a:rPr lang="en-US" altLang="ko-KR" sz="1100"/>
                        <a:t>0, </a:t>
                      </a:r>
                      <a:r>
                        <a:rPr lang="ko-KR" altLang="en-US" sz="1100"/>
                        <a:t>표준편차≈</a:t>
                      </a:r>
                      <a:r>
                        <a:rPr lang="en-US" altLang="ko-KR" sz="1100"/>
                        <a:t>1). </a:t>
                      </a:r>
                      <a:r>
                        <a:rPr lang="ko-KR" altLang="en-US" sz="1100"/>
                        <a:t>생성 후 </a:t>
                      </a:r>
                      <a:r>
                        <a:rPr lang="en-US" sz="1100"/>
                        <a:t>inverse_transform</a:t>
                      </a:r>
                    </a:p>
                  </a:txBody>
                  <a:tcPr marL="31531" marR="31531" marT="15766" marB="15766" anchor="ctr"/>
                </a:tc>
                <a:extLst>
                  <a:ext uri="{0D108BD9-81ED-4DB2-BD59-A6C34878D82A}">
                    <a16:rowId xmlns:a16="http://schemas.microsoft.com/office/drawing/2014/main" val="2941216875"/>
                  </a:ext>
                </a:extLst>
              </a:tr>
              <a:tr h="882880">
                <a:tc>
                  <a:txBody>
                    <a:bodyPr/>
                    <a:lstStyle/>
                    <a:p>
                      <a:r>
                        <a:rPr lang="fr-FR" sz="1100" b="1"/>
                        <a:t>Generative input: QuantileTransformer joint [X|Y]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/>
                        <a:t>Train split only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/>
                        <a:t>200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/>
                        <a:t>-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/>
                        <a:t>231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/>
                        <a:t>50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**QuantileTransformer(output_distribution="normal")**</a:t>
                      </a:r>
                      <a:r>
                        <a:rPr lang="ko-KR" altLang="en-US" sz="1100"/>
                        <a:t>로 </a:t>
                      </a:r>
                      <a:r>
                        <a:rPr lang="en-US" sz="1100"/>
                        <a:t>Gaussianization. </a:t>
                      </a:r>
                      <a:r>
                        <a:rPr lang="ko-KR" altLang="en-US" sz="1100"/>
                        <a:t>생성 후 </a:t>
                      </a:r>
                      <a:r>
                        <a:rPr lang="en-US" sz="1100"/>
                        <a:t>inverse_transform(</a:t>
                      </a:r>
                      <a:r>
                        <a:rPr lang="ko-KR" altLang="en-US" sz="1100"/>
                        <a:t>검사용</a:t>
                      </a:r>
                      <a:r>
                        <a:rPr lang="en-US" altLang="ko-KR" sz="1100"/>
                        <a:t>)</a:t>
                      </a:r>
                    </a:p>
                  </a:txBody>
                  <a:tcPr marL="31531" marR="31531" marT="15766" marB="15766" anchor="ctr"/>
                </a:tc>
                <a:extLst>
                  <a:ext uri="{0D108BD9-81ED-4DB2-BD59-A6C34878D82A}">
                    <a16:rowId xmlns:a16="http://schemas.microsoft.com/office/drawing/2014/main" val="2928926486"/>
                  </a:ext>
                </a:extLst>
              </a:tr>
              <a:tr h="1166663">
                <a:tc>
                  <a:txBody>
                    <a:bodyPr/>
                    <a:lstStyle/>
                    <a:p>
                      <a:r>
                        <a:rPr lang="en-US" sz="1100" b="1"/>
                        <a:t>Generative input: Feature-selected [X_sel|Y]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/>
                        <a:t>Train split only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/>
                        <a:t>200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/>
                        <a:t>-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/>
                        <a:t>37 </a:t>
                      </a:r>
                    </a:p>
                    <a:p>
                      <a:pPr algn="r"/>
                      <a:r>
                        <a:rPr lang="en-US" sz="1100"/>
                        <a:t>(from 231)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100"/>
                        <a:t>50</a:t>
                      </a:r>
                    </a:p>
                  </a:txBody>
                  <a:tcPr marL="31531" marR="31531" marT="15766" marB="15766" anchor="ctr"/>
                </a:tc>
                <a:tc>
                  <a:txBody>
                    <a:bodyPr/>
                    <a:lstStyle/>
                    <a:p>
                      <a:r>
                        <a:rPr lang="en-US" sz="1100" b="1"/>
                        <a:t>RandomForest </a:t>
                      </a:r>
                      <a:r>
                        <a:rPr lang="ko-KR" altLang="en-US" sz="1100" b="1"/>
                        <a:t>기반 </a:t>
                      </a:r>
                      <a:r>
                        <a:rPr lang="en-US" sz="1100" b="1"/>
                        <a:t>feature selection</a:t>
                      </a:r>
                      <a:r>
                        <a:rPr lang="ko-KR" altLang="en-US" sz="1100"/>
                        <a:t>으로 </a:t>
                      </a:r>
                      <a:r>
                        <a:rPr lang="en-US" sz="1100"/>
                        <a:t>X:231→37, [X_sel|Y]=87</a:t>
                      </a:r>
                      <a:r>
                        <a:rPr lang="ko-KR" altLang="en-US" sz="1100"/>
                        <a:t>차원에 </a:t>
                      </a:r>
                      <a:r>
                        <a:rPr lang="en-US" sz="1100"/>
                        <a:t>StandardScaler. </a:t>
                      </a:r>
                      <a:r>
                        <a:rPr lang="ko-KR" altLang="en-US" sz="1100"/>
                        <a:t>이후 비선택 </a:t>
                      </a:r>
                      <a:r>
                        <a:rPr lang="en-US" sz="1100"/>
                        <a:t>feature</a:t>
                      </a:r>
                      <a:r>
                        <a:rPr lang="ko-KR" altLang="en-US" sz="1100"/>
                        <a:t>는 </a:t>
                      </a:r>
                      <a:r>
                        <a:rPr lang="en-US" sz="1100" b="1"/>
                        <a:t>real mean</a:t>
                      </a:r>
                      <a:r>
                        <a:rPr lang="ko-KR" altLang="en-US" sz="1100" b="1"/>
                        <a:t>으로 채움</a:t>
                      </a:r>
                      <a:endParaRPr lang="ko-KR" altLang="en-US" sz="1100"/>
                    </a:p>
                  </a:txBody>
                  <a:tcPr marL="31531" marR="31531" marT="15766" marB="15766" anchor="ctr"/>
                </a:tc>
                <a:extLst>
                  <a:ext uri="{0D108BD9-81ED-4DB2-BD59-A6C34878D82A}">
                    <a16:rowId xmlns:a16="http://schemas.microsoft.com/office/drawing/2014/main" val="258734980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87FCA9A-5526-4EA0-AD0F-7C26E8592C3A}"/>
              </a:ext>
            </a:extLst>
          </p:cNvPr>
          <p:cNvSpPr txBox="1"/>
          <p:nvPr/>
        </p:nvSpPr>
        <p:spPr>
          <a:xfrm>
            <a:off x="465667" y="465667"/>
            <a:ext cx="4483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1) </a:t>
            </a:r>
            <a:r>
              <a:rPr lang="ko-KR" altLang="en-US"/>
              <a:t>생성모델 학습용 전처리 데이터 요약표</a:t>
            </a:r>
          </a:p>
        </p:txBody>
      </p:sp>
    </p:spTree>
    <p:extLst>
      <p:ext uri="{BB962C8B-B14F-4D97-AF65-F5344CB8AC3E}">
        <p14:creationId xmlns:p14="http://schemas.microsoft.com/office/powerpoint/2010/main" val="3441240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FD1D55-B83C-43AD-B672-846927467730}"/>
              </a:ext>
            </a:extLst>
          </p:cNvPr>
          <p:cNvSpPr txBox="1"/>
          <p:nvPr/>
        </p:nvSpPr>
        <p:spPr>
          <a:xfrm>
            <a:off x="465667" y="465667"/>
            <a:ext cx="7646645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2) </a:t>
            </a:r>
            <a:r>
              <a:rPr lang="ko-KR" altLang="en-US"/>
              <a:t>생성모델별 “증강 학습” 성능 요약표 </a:t>
            </a:r>
            <a:r>
              <a:rPr lang="en-US" altLang="ko-KR"/>
              <a:t>(Train/Test </a:t>
            </a:r>
            <a:r>
              <a:rPr lang="ko-KR" altLang="en-US"/>
              <a:t>최종 수치 포함</a:t>
            </a:r>
            <a:r>
              <a:rPr lang="en-US" altLang="ko-KR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/>
              <a:t>지표</a:t>
            </a:r>
            <a:r>
              <a:rPr lang="en-US" altLang="ko-KR" sz="1400"/>
              <a:t>: ipynb</a:t>
            </a:r>
            <a:r>
              <a:rPr lang="ko-KR" altLang="en-US" sz="1400"/>
              <a:t>에서 일관되게 쓰인 멀티아웃풋 평균 </a:t>
            </a:r>
            <a:r>
              <a:rPr lang="en-US" altLang="ko-KR" sz="1400"/>
              <a:t>R²(50</a:t>
            </a:r>
            <a:r>
              <a:rPr lang="ko-KR" altLang="en-US" sz="1400"/>
              <a:t>개 맛 항목별 </a:t>
            </a:r>
            <a:r>
              <a:rPr lang="en-US" altLang="ko-KR" sz="1400"/>
              <a:t>R² </a:t>
            </a:r>
            <a:r>
              <a:rPr lang="ko-KR" altLang="en-US" sz="1400"/>
              <a:t>평균</a:t>
            </a:r>
            <a:r>
              <a:rPr lang="en-US" altLang="ko-KR" sz="1400"/>
              <a:t>) </a:t>
            </a:r>
            <a:r>
              <a:rPr lang="ko-KR" altLang="en-US" sz="1400"/>
              <a:t>중심으로 정리</a:t>
            </a:r>
            <a:endParaRPr lang="en-US" altLang="ko-KR" sz="14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/>
              <a:t>가능할 때만 </a:t>
            </a:r>
            <a:r>
              <a:rPr lang="en-US" altLang="ko-KR" sz="1400"/>
              <a:t>Test MSE / Train loss</a:t>
            </a:r>
            <a:r>
              <a:rPr lang="ko-KR" altLang="en-US" sz="1400"/>
              <a:t>도 함께 기입</a:t>
            </a:r>
            <a:r>
              <a:rPr lang="en-US" altLang="ko-KR" sz="1400"/>
              <a:t>(</a:t>
            </a:r>
            <a:r>
              <a:rPr lang="ko-KR" altLang="en-US" sz="1400"/>
              <a:t>코드에서 출력된 경우만</a:t>
            </a:r>
            <a:r>
              <a:rPr lang="en-US" altLang="ko-KR" sz="1400"/>
              <a:t>)</a:t>
            </a:r>
            <a:endParaRPr lang="ko-KR" altLang="en-US" sz="140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AE1B57B-90CB-47BA-BD49-EFCC8CF38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059554"/>
              </p:ext>
            </p:extLst>
          </p:nvPr>
        </p:nvGraphicFramePr>
        <p:xfrm>
          <a:off x="203201" y="1647799"/>
          <a:ext cx="11590862" cy="446033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98130">
                  <a:extLst>
                    <a:ext uri="{9D8B030D-6E8A-4147-A177-3AD203B41FA5}">
                      <a16:colId xmlns:a16="http://schemas.microsoft.com/office/drawing/2014/main" val="2018469368"/>
                    </a:ext>
                  </a:extLst>
                </a:gridCol>
                <a:gridCol w="1056535">
                  <a:extLst>
                    <a:ext uri="{9D8B030D-6E8A-4147-A177-3AD203B41FA5}">
                      <a16:colId xmlns:a16="http://schemas.microsoft.com/office/drawing/2014/main" val="902650226"/>
                    </a:ext>
                  </a:extLst>
                </a:gridCol>
                <a:gridCol w="2590801">
                  <a:extLst>
                    <a:ext uri="{9D8B030D-6E8A-4147-A177-3AD203B41FA5}">
                      <a16:colId xmlns:a16="http://schemas.microsoft.com/office/drawing/2014/main" val="231620850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3081334037"/>
                    </a:ext>
                  </a:extLst>
                </a:gridCol>
                <a:gridCol w="829733">
                  <a:extLst>
                    <a:ext uri="{9D8B030D-6E8A-4147-A177-3AD203B41FA5}">
                      <a16:colId xmlns:a16="http://schemas.microsoft.com/office/drawing/2014/main" val="3740023559"/>
                    </a:ext>
                  </a:extLst>
                </a:gridCol>
                <a:gridCol w="1049867">
                  <a:extLst>
                    <a:ext uri="{9D8B030D-6E8A-4147-A177-3AD203B41FA5}">
                      <a16:colId xmlns:a16="http://schemas.microsoft.com/office/drawing/2014/main" val="1729900020"/>
                    </a:ext>
                  </a:extLst>
                </a:gridCol>
                <a:gridCol w="1786466">
                  <a:extLst>
                    <a:ext uri="{9D8B030D-6E8A-4147-A177-3AD203B41FA5}">
                      <a16:colId xmlns:a16="http://schemas.microsoft.com/office/drawing/2014/main" val="651436768"/>
                    </a:ext>
                  </a:extLst>
                </a:gridCol>
                <a:gridCol w="1083734">
                  <a:extLst>
                    <a:ext uri="{9D8B030D-6E8A-4147-A177-3AD203B41FA5}">
                      <a16:colId xmlns:a16="http://schemas.microsoft.com/office/drawing/2014/main" val="2177800745"/>
                    </a:ext>
                  </a:extLst>
                </a:gridCol>
                <a:gridCol w="1075266">
                  <a:extLst>
                    <a:ext uri="{9D8B030D-6E8A-4147-A177-3AD203B41FA5}">
                      <a16:colId xmlns:a16="http://schemas.microsoft.com/office/drawing/2014/main" val="715141588"/>
                    </a:ext>
                  </a:extLst>
                </a:gridCol>
                <a:gridCol w="651930">
                  <a:extLst>
                    <a:ext uri="{9D8B030D-6E8A-4147-A177-3AD203B41FA5}">
                      <a16:colId xmlns:a16="http://schemas.microsoft.com/office/drawing/2014/main" val="1479023365"/>
                    </a:ext>
                  </a:extLst>
                </a:gridCol>
              </a:tblGrid>
              <a:tr h="180366">
                <a:tc>
                  <a:txBody>
                    <a:bodyPr/>
                    <a:lstStyle/>
                    <a:p>
                      <a:r>
                        <a:rPr lang="en-US" sz="900" b="1"/>
                        <a:t>Exp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b="1"/>
                        <a:t>생성방법</a:t>
                      </a:r>
                      <a:r>
                        <a:rPr lang="en-US" altLang="ko-KR" sz="900" b="1"/>
                        <a:t>(</a:t>
                      </a:r>
                      <a:r>
                        <a:rPr lang="ko-KR" altLang="en-US" sz="900" b="1"/>
                        <a:t>요약</a:t>
                      </a:r>
                      <a:r>
                        <a:rPr lang="en-US" altLang="ko-KR" sz="900" b="1"/>
                        <a:t>)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b="1"/>
                        <a:t>생성모델 구조</a:t>
                      </a:r>
                      <a:r>
                        <a:rPr lang="en-US" altLang="ko-KR" sz="900" b="1"/>
                        <a:t>/</a:t>
                      </a:r>
                      <a:r>
                        <a:rPr lang="ko-KR" altLang="en-US" sz="900" b="1"/>
                        <a:t>핵심 설정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b="1"/>
                        <a:t>전처리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 b="1"/>
                        <a:t>사용한 </a:t>
                      </a:r>
                      <a:endParaRPr lang="en-US" altLang="ko-KR" sz="900" b="1"/>
                    </a:p>
                    <a:p>
                      <a:pPr algn="r"/>
                      <a:r>
                        <a:rPr lang="ko-KR" altLang="en-US" sz="900" b="1"/>
                        <a:t>합성데이터 수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 b="1"/>
                        <a:t>학습 데이터 크기 </a:t>
                      </a:r>
                      <a:endParaRPr lang="en-US" altLang="ko-KR" sz="900" b="1"/>
                    </a:p>
                    <a:p>
                      <a:pPr algn="r"/>
                      <a:r>
                        <a:rPr lang="en-US" altLang="ko-KR" sz="900" b="1"/>
                        <a:t>(Real→Aug)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b="1"/>
                        <a:t>예측모델</a:t>
                      </a:r>
                      <a:r>
                        <a:rPr lang="en-US" altLang="ko-KR" sz="900" b="1"/>
                        <a:t>/</a:t>
                      </a:r>
                      <a:r>
                        <a:rPr lang="ko-KR" altLang="en-US" sz="900" b="1"/>
                        <a:t>평가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>
                          <a:solidFill>
                            <a:srgbClr val="FF0000"/>
                          </a:solidFill>
                        </a:rPr>
                        <a:t>Baseline Test R²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900" b="1">
                          <a:solidFill>
                            <a:srgbClr val="FF0000"/>
                          </a:solidFill>
                        </a:rPr>
                        <a:t>Aug Test R²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l-GR" sz="900" b="1">
                          <a:solidFill>
                            <a:srgbClr val="FF0000"/>
                          </a:solidFill>
                        </a:rPr>
                        <a:t>Δ</a:t>
                      </a:r>
                      <a:r>
                        <a:rPr lang="en-US" sz="900" b="1">
                          <a:solidFill>
                            <a:srgbClr val="FF0000"/>
                          </a:solidFill>
                        </a:rPr>
                        <a:t>R²</a:t>
                      </a:r>
                    </a:p>
                  </a:txBody>
                  <a:tcPr marL="11273" marR="11273" marT="5636" marB="5636" anchor="ctr"/>
                </a:tc>
                <a:extLst>
                  <a:ext uri="{0D108BD9-81ED-4DB2-BD59-A6C34878D82A}">
                    <a16:rowId xmlns:a16="http://schemas.microsoft.com/office/drawing/2014/main" val="3337203500"/>
                  </a:ext>
                </a:extLst>
              </a:tr>
              <a:tr h="417097">
                <a:tc>
                  <a:txBody>
                    <a:bodyPr/>
                    <a:lstStyle/>
                    <a:p>
                      <a:r>
                        <a:rPr lang="en-US" sz="900" b="1"/>
                        <a:t>E1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DDPM (data-space)</a:t>
                      </a:r>
                      <a:endParaRPr lang="en-US" sz="900"/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joint 281</a:t>
                      </a:r>
                      <a:r>
                        <a:rPr lang="ko-KR" altLang="en-US" sz="900"/>
                        <a:t>차원에서 </a:t>
                      </a:r>
                      <a:r>
                        <a:rPr lang="en-US" sz="900"/>
                        <a:t>DDPM, </a:t>
                      </a:r>
                      <a:r>
                        <a:rPr lang="en-US" sz="900" b="1"/>
                        <a:t>MLP denoiser(hidden=512)</a:t>
                      </a:r>
                      <a:r>
                        <a:rPr lang="en-US" sz="900"/>
                        <a:t>, T=500, Diff epochs=1000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Raw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200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200→400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MLP(231→128→128→50), 200 epochs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400"/>
                        <a:t>0.1026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400"/>
                        <a:t>-0.0316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-0.1342</a:t>
                      </a:r>
                    </a:p>
                  </a:txBody>
                  <a:tcPr marL="11273" marR="11273" marT="5636" marB="5636" anchor="ctr"/>
                </a:tc>
                <a:extLst>
                  <a:ext uri="{0D108BD9-81ED-4DB2-BD59-A6C34878D82A}">
                    <a16:rowId xmlns:a16="http://schemas.microsoft.com/office/drawing/2014/main" val="3700957250"/>
                  </a:ext>
                </a:extLst>
              </a:tr>
              <a:tr h="281822">
                <a:tc>
                  <a:txBody>
                    <a:bodyPr/>
                    <a:lstStyle/>
                    <a:p>
                      <a:r>
                        <a:rPr lang="en-US" sz="900" b="1"/>
                        <a:t>E2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DDPM (data-space) + scaling</a:t>
                      </a:r>
                      <a:endParaRPr lang="en-US" sz="900"/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E1</a:t>
                      </a:r>
                      <a:r>
                        <a:rPr lang="ko-KR" altLang="en-US" sz="900"/>
                        <a:t>과 유사</a:t>
                      </a:r>
                      <a:r>
                        <a:rPr lang="en-US" altLang="ko-KR" sz="900"/>
                        <a:t>(</a:t>
                      </a:r>
                      <a:r>
                        <a:rPr lang="en-US" sz="900"/>
                        <a:t>MLP denoiser, T=500, Diff epochs=1000)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StandardScaler([X|Y])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200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200→400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MLP+BatchNorm, 200 epochs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400"/>
                        <a:t>0.1122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400"/>
                        <a:t>-0.0220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-0.1342</a:t>
                      </a:r>
                    </a:p>
                  </a:txBody>
                  <a:tcPr marL="11273" marR="11273" marT="5636" marB="5636" anchor="ctr"/>
                </a:tc>
                <a:extLst>
                  <a:ext uri="{0D108BD9-81ED-4DB2-BD59-A6C34878D82A}">
                    <a16:rowId xmlns:a16="http://schemas.microsoft.com/office/drawing/2014/main" val="1913740554"/>
                  </a:ext>
                </a:extLst>
              </a:tr>
              <a:tr h="687647">
                <a:tc>
                  <a:txBody>
                    <a:bodyPr/>
                    <a:lstStyle/>
                    <a:p>
                      <a:r>
                        <a:rPr lang="en-US" sz="900" b="1"/>
                        <a:t>E3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VAE + Latent Diffusion</a:t>
                      </a:r>
                      <a:endParaRPr lang="en-US" sz="900"/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StandardScaler → </a:t>
                      </a:r>
                      <a:r>
                        <a:rPr lang="en-US" sz="900" b="1"/>
                        <a:t>VAE(281→32)</a:t>
                      </a:r>
                      <a:r>
                        <a:rPr lang="en-US" sz="900"/>
                        <a:t>(epochs=2000) → </a:t>
                      </a:r>
                      <a:r>
                        <a:rPr lang="en-US" sz="900" b="1"/>
                        <a:t>Latent DDPM(cosine schedule, T=1000, denoiser hidden=256, epochs=2000)</a:t>
                      </a:r>
                      <a:endParaRPr lang="en-US" sz="900"/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StandardScaler([X|Y])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200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200→400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MLP+BatchNorm, 200 epochs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400"/>
                        <a:t>0.1399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400" b="1"/>
                        <a:t>0.1711</a:t>
                      </a:r>
                      <a:endParaRPr lang="ko-KR" altLang="en-US" sz="1400"/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 b="1"/>
                        <a:t>+0.0312</a:t>
                      </a:r>
                      <a:endParaRPr lang="ko-KR" altLang="en-US" sz="900"/>
                    </a:p>
                  </a:txBody>
                  <a:tcPr marL="11273" marR="11273" marT="5636" marB="5636" anchor="ctr"/>
                </a:tc>
                <a:extLst>
                  <a:ext uri="{0D108BD9-81ED-4DB2-BD59-A6C34878D82A}">
                    <a16:rowId xmlns:a16="http://schemas.microsoft.com/office/drawing/2014/main" val="3267060203"/>
                  </a:ext>
                </a:extLst>
              </a:tr>
              <a:tr h="417097">
                <a:tc>
                  <a:txBody>
                    <a:bodyPr/>
                    <a:lstStyle/>
                    <a:p>
                      <a:r>
                        <a:rPr lang="en-US" sz="900" b="1"/>
                        <a:t>E4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E3 + Consistency Filtering</a:t>
                      </a:r>
                      <a:endParaRPr lang="en-US" sz="900"/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E3</a:t>
                      </a:r>
                      <a:r>
                        <a:rPr lang="ko-KR" altLang="en-US" sz="900"/>
                        <a:t>에서 </a:t>
                      </a:r>
                      <a:r>
                        <a:rPr lang="en-US" altLang="ko-KR" sz="900"/>
                        <a:t>1000</a:t>
                      </a:r>
                      <a:r>
                        <a:rPr lang="ko-KR" altLang="en-US" sz="900"/>
                        <a:t>개 생성 후 </a:t>
                      </a:r>
                      <a:r>
                        <a:rPr lang="en-US" sz="900" b="1"/>
                        <a:t>Validator(MLP)</a:t>
                      </a:r>
                      <a:r>
                        <a:rPr lang="ko-KR" altLang="en-US" sz="900" b="1"/>
                        <a:t>로 </a:t>
                      </a:r>
                      <a:r>
                        <a:rPr lang="en-US" sz="900" b="1"/>
                        <a:t>consistency error </a:t>
                      </a:r>
                      <a:r>
                        <a:rPr lang="ko-KR" altLang="en-US" sz="900" b="1"/>
                        <a:t>기반 상위 </a:t>
                      </a:r>
                      <a:r>
                        <a:rPr lang="en-US" altLang="ko-KR" sz="900" b="1"/>
                        <a:t>50% </a:t>
                      </a:r>
                      <a:r>
                        <a:rPr lang="ko-KR" altLang="en-US" sz="900" b="1"/>
                        <a:t>선별</a:t>
                      </a:r>
                      <a:endParaRPr lang="ko-KR" altLang="en-US" sz="900"/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StandardScaler([X|Y])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1000 →</a:t>
                      </a:r>
                    </a:p>
                    <a:p>
                      <a:pPr algn="r"/>
                      <a:r>
                        <a:rPr lang="en-US" altLang="ko-KR" sz="900"/>
                        <a:t> </a:t>
                      </a:r>
                      <a:r>
                        <a:rPr lang="en-US" altLang="ko-KR" sz="900" b="1"/>
                        <a:t>500 </a:t>
                      </a:r>
                      <a:r>
                        <a:rPr lang="ko-KR" altLang="en-US" sz="900" b="1"/>
                        <a:t>사용</a:t>
                      </a:r>
                      <a:endParaRPr lang="ko-KR" altLang="en-US" sz="900"/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200→700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MLP+BatchNorm, 200 epochs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400"/>
                        <a:t>0.0909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400"/>
                        <a:t>0.1106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+0.0197</a:t>
                      </a:r>
                    </a:p>
                  </a:txBody>
                  <a:tcPr marL="11273" marR="11273" marT="5636" marB="5636" anchor="ctr"/>
                </a:tc>
                <a:extLst>
                  <a:ext uri="{0D108BD9-81ED-4DB2-BD59-A6C34878D82A}">
                    <a16:rowId xmlns:a16="http://schemas.microsoft.com/office/drawing/2014/main" val="2216734941"/>
                  </a:ext>
                </a:extLst>
              </a:tr>
              <a:tr h="721465">
                <a:tc>
                  <a:txBody>
                    <a:bodyPr/>
                    <a:lstStyle/>
                    <a:p>
                      <a:r>
                        <a:rPr lang="en-US" sz="900" b="1"/>
                        <a:t>E5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VAE + OT-CFM Flow Matching</a:t>
                      </a:r>
                      <a:endParaRPr lang="en-US" sz="900"/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StandardScaler → VAE(281→32, epochs=1000) → </a:t>
                      </a:r>
                      <a:r>
                        <a:rPr lang="en-US" sz="900" b="1"/>
                        <a:t>OT-CFM(Flow Matching) vector field(hidden=256, epochs=1500)</a:t>
                      </a:r>
                      <a:r>
                        <a:rPr lang="en-US" sz="900"/>
                        <a:t> → </a:t>
                      </a:r>
                      <a:r>
                        <a:rPr lang="en-US" sz="900" b="1"/>
                        <a:t>Euler ODE(steps=100)</a:t>
                      </a:r>
                      <a:endParaRPr lang="en-US" sz="900"/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StandardScaler([X|Y])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400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200→600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b="1"/>
                        <a:t>앙상블</a:t>
                      </a:r>
                      <a:r>
                        <a:rPr lang="en-US" altLang="ko-KR" sz="900" b="1"/>
                        <a:t>(MLP 5</a:t>
                      </a:r>
                      <a:r>
                        <a:rPr lang="ko-KR" altLang="en-US" sz="900" b="1"/>
                        <a:t>개 평균</a:t>
                      </a:r>
                      <a:r>
                        <a:rPr lang="en-US" altLang="ko-KR" sz="900" b="1"/>
                        <a:t>)</a:t>
                      </a:r>
                      <a:endParaRPr lang="ko-KR" altLang="en-US" sz="900"/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400"/>
                        <a:t>0.1760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400"/>
                        <a:t>0.1575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-0.0185</a:t>
                      </a:r>
                    </a:p>
                  </a:txBody>
                  <a:tcPr marL="11273" marR="11273" marT="5636" marB="5636" anchor="ctr"/>
                </a:tc>
                <a:extLst>
                  <a:ext uri="{0D108BD9-81ED-4DB2-BD59-A6C34878D82A}">
                    <a16:rowId xmlns:a16="http://schemas.microsoft.com/office/drawing/2014/main" val="2914875805"/>
                  </a:ext>
                </a:extLst>
              </a:tr>
              <a:tr h="1059652">
                <a:tc>
                  <a:txBody>
                    <a:bodyPr/>
                    <a:lstStyle/>
                    <a:p>
                      <a:r>
                        <a:rPr lang="en-US" sz="900" b="1"/>
                        <a:t>E6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FS + Deep OT-CFM + Manifold filter</a:t>
                      </a:r>
                      <a:endParaRPr lang="en-US" sz="900"/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RF feature selection(231→37)</a:t>
                      </a:r>
                      <a:r>
                        <a:rPr lang="en-US" sz="900"/>
                        <a:t> → Deep VAE(87→32, epochs=2000) → Deep OT-CFM(hidden=512, epochs=3000) → Euler → </a:t>
                      </a:r>
                      <a:r>
                        <a:rPr lang="en-US" sz="900" b="1"/>
                        <a:t>latent </a:t>
                      </a:r>
                      <a:r>
                        <a:rPr lang="ko-KR" altLang="en-US" sz="900" b="1"/>
                        <a:t>거리 기반 </a:t>
                      </a:r>
                      <a:r>
                        <a:rPr lang="en-US" sz="900" b="1"/>
                        <a:t>manifold filtering</a:t>
                      </a:r>
                      <a:r>
                        <a:rPr lang="en-US" sz="900"/>
                        <a:t>(1000→554) → X </a:t>
                      </a:r>
                      <a:r>
                        <a:rPr lang="ko-KR" altLang="en-US" sz="900"/>
                        <a:t>비선택 </a:t>
                      </a:r>
                      <a:r>
                        <a:rPr lang="en-US" sz="900"/>
                        <a:t>feature</a:t>
                      </a:r>
                      <a:r>
                        <a:rPr lang="ko-KR" altLang="en-US" sz="900"/>
                        <a:t>는 </a:t>
                      </a:r>
                      <a:r>
                        <a:rPr lang="en-US" sz="900"/>
                        <a:t>real mean</a:t>
                      </a:r>
                      <a:r>
                        <a:rPr lang="ko-KR" altLang="en-US" sz="900"/>
                        <a:t>으로 채움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FS + StandardScaler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1000 →</a:t>
                      </a:r>
                    </a:p>
                    <a:p>
                      <a:pPr algn="r"/>
                      <a:r>
                        <a:rPr lang="en-US" altLang="ko-KR" sz="900"/>
                        <a:t> </a:t>
                      </a:r>
                      <a:r>
                        <a:rPr lang="en-US" altLang="ko-KR" sz="900" b="1"/>
                        <a:t>554 </a:t>
                      </a:r>
                      <a:r>
                        <a:rPr lang="ko-KR" altLang="en-US" sz="900" b="1"/>
                        <a:t>사용</a:t>
                      </a:r>
                      <a:endParaRPr lang="ko-KR" altLang="en-US" sz="900"/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200→754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ko-KR" altLang="en-US" sz="900" b="1"/>
                        <a:t>앙상블</a:t>
                      </a:r>
                      <a:r>
                        <a:rPr lang="en-US" altLang="ko-KR" sz="900" b="1"/>
                        <a:t>(MLP 5</a:t>
                      </a:r>
                      <a:r>
                        <a:rPr lang="ko-KR" altLang="en-US" sz="900" b="1"/>
                        <a:t>개 평균</a:t>
                      </a:r>
                      <a:r>
                        <a:rPr lang="en-US" altLang="ko-KR" sz="900" b="1"/>
                        <a:t>)</a:t>
                      </a:r>
                      <a:endParaRPr lang="ko-KR" altLang="en-US" sz="900"/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400"/>
                        <a:t>0.1412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400"/>
                        <a:t>0.1228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-0.0184</a:t>
                      </a:r>
                    </a:p>
                  </a:txBody>
                  <a:tcPr marL="11273" marR="11273" marT="5636" marB="5636" anchor="ctr"/>
                </a:tc>
                <a:extLst>
                  <a:ext uri="{0D108BD9-81ED-4DB2-BD59-A6C34878D82A}">
                    <a16:rowId xmlns:a16="http://schemas.microsoft.com/office/drawing/2014/main" val="1088957497"/>
                  </a:ext>
                </a:extLst>
              </a:tr>
              <a:tr h="586191">
                <a:tc>
                  <a:txBody>
                    <a:bodyPr/>
                    <a:lstStyle/>
                    <a:p>
                      <a:r>
                        <a:rPr lang="en-US" sz="900" b="1"/>
                        <a:t>E7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Quantile + VAE + Latent DDPM + ResNet predictor</a:t>
                      </a:r>
                      <a:endParaRPr lang="en-US" sz="900"/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QuantileTransformer(normal) → VAE(281→64, epochs=1000) → Latent DDPM(T=1000, epochs=1500) → </a:t>
                      </a:r>
                      <a:r>
                        <a:rPr lang="ko-KR" altLang="en-US" sz="900"/>
                        <a:t>생성 </a:t>
                      </a:r>
                      <a:r>
                        <a:rPr lang="en-US" altLang="ko-KR" sz="900"/>
                        <a:t>1000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QuantileTransformer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1000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900"/>
                        <a:t>200→1200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r>
                        <a:rPr lang="en-US" sz="900" b="1"/>
                        <a:t>ResNet</a:t>
                      </a:r>
                      <a:r>
                        <a:rPr lang="ko-KR" altLang="en-US" sz="900" b="1"/>
                        <a:t>형 </a:t>
                      </a:r>
                      <a:r>
                        <a:rPr lang="en-US" sz="900" b="1"/>
                        <a:t>tabular predictor(Residual blocks=3)</a:t>
                      </a:r>
                      <a:endParaRPr lang="en-US" sz="900"/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400"/>
                        <a:t>-0.0423 ~</a:t>
                      </a:r>
                    </a:p>
                    <a:p>
                      <a:pPr algn="r"/>
                      <a:r>
                        <a:rPr lang="en-US" altLang="ko-KR" sz="1400"/>
                        <a:t> -0.0462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ko-KR" sz="1400"/>
                        <a:t>-0.6269 ~</a:t>
                      </a:r>
                    </a:p>
                    <a:p>
                      <a:pPr algn="r"/>
                      <a:r>
                        <a:rPr lang="en-US" altLang="ko-KR" sz="1400"/>
                        <a:t> -0.6244</a:t>
                      </a:r>
                    </a:p>
                  </a:txBody>
                  <a:tcPr marL="11273" marR="11273" marT="5636" marB="5636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ko-KR" altLang="en-US" sz="900"/>
                        <a:t>≈ </a:t>
                      </a:r>
                      <a:r>
                        <a:rPr lang="en-US" altLang="ko-KR" sz="900"/>
                        <a:t>-0.58</a:t>
                      </a:r>
                    </a:p>
                  </a:txBody>
                  <a:tcPr marL="11273" marR="11273" marT="5636" marB="5636" anchor="ctr"/>
                </a:tc>
                <a:extLst>
                  <a:ext uri="{0D108BD9-81ED-4DB2-BD59-A6C34878D82A}">
                    <a16:rowId xmlns:a16="http://schemas.microsoft.com/office/drawing/2014/main" val="1240596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535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3D1163A-DE00-42AD-82C1-738BBEB908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101" y="2595446"/>
            <a:ext cx="5353797" cy="166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213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E1C9958-211C-4787-9054-D0763B3BB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0181" y="3479046"/>
            <a:ext cx="6586088" cy="30452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A63BC6C-E0B6-41AD-BDD5-B634ECFF0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798" y="251408"/>
            <a:ext cx="8096870" cy="3127546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33943CB-19BD-48D7-81EA-A4D1B84D279F}"/>
              </a:ext>
            </a:extLst>
          </p:cNvPr>
          <p:cNvCxnSpPr/>
          <p:nvPr/>
        </p:nvCxnSpPr>
        <p:spPr>
          <a:xfrm>
            <a:off x="8288866" y="415620"/>
            <a:ext cx="0" cy="58420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299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7DB3F4C-A2E8-4E50-8891-251FCD10C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836" y="90021"/>
            <a:ext cx="8078327" cy="667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32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B0992D5-D8E6-4BFF-B312-3BDCF843F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90" y="435601"/>
            <a:ext cx="11143744" cy="598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663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780</Words>
  <Application>Microsoft Office PowerPoint</Application>
  <PresentationFormat>와이드스크린</PresentationFormat>
  <Paragraphs>141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Google Sans Text</vt:lpstr>
      <vt:lpstr>맑은 고딕</vt:lpstr>
      <vt:lpstr>Arial</vt:lpstr>
      <vt:lpstr>Office 테마</vt:lpstr>
      <vt:lpstr>데이터 증강을 통한 BEER 데이터 예측 개선  고영민 2026 / 1 / 19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고영민</dc:creator>
  <cp:lastModifiedBy>고영민</cp:lastModifiedBy>
  <cp:revision>24</cp:revision>
  <dcterms:created xsi:type="dcterms:W3CDTF">2026-01-19T07:10:54Z</dcterms:created>
  <dcterms:modified xsi:type="dcterms:W3CDTF">2026-01-19T08:45:49Z</dcterms:modified>
</cp:coreProperties>
</file>